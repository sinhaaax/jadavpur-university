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1990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gif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01236" y="2002222"/>
            <a:ext cx="5777785" cy="577778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991651" y="901879"/>
            <a:ext cx="1907736" cy="190773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215264" y="3800147"/>
            <a:ext cx="3051659" cy="305165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647250" y="3541460"/>
            <a:ext cx="11664921" cy="124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2"/>
              </a:lnSpc>
            </a:pPr>
            <a:r>
              <a:rPr lang="en-US" sz="10903" b="1" dirty="0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Digital Twins: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708971" y="7232532"/>
            <a:ext cx="847215" cy="84721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28677" y="1204269"/>
            <a:ext cx="1812417" cy="181241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419708" y="5893836"/>
            <a:ext cx="847215" cy="84721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0767" y="3219563"/>
            <a:ext cx="2940937" cy="294093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624886" y="4814710"/>
            <a:ext cx="17228729" cy="235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22"/>
              </a:lnSpc>
            </a:pPr>
            <a:r>
              <a:rPr lang="en-US" sz="10903" dirty="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The Virtual Replicas of the Real World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74314" y="9473025"/>
            <a:ext cx="354591" cy="24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 dirty="0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11434" y="8041648"/>
            <a:ext cx="5451365" cy="1960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18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Subhadip Sinha</a:t>
            </a:r>
          </a:p>
          <a:p>
            <a:pPr algn="l">
              <a:lnSpc>
                <a:spcPts val="3059"/>
              </a:lnSpc>
            </a:pPr>
            <a:r>
              <a:rPr lang="en-US" sz="218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Department: Information Technology</a:t>
            </a:r>
          </a:p>
          <a:p>
            <a:pPr algn="l">
              <a:lnSpc>
                <a:spcPts val="3059"/>
              </a:lnSpc>
            </a:pPr>
            <a:r>
              <a:rPr lang="en-US" sz="218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Year: UG 4  Sec: A3</a:t>
            </a:r>
          </a:p>
          <a:p>
            <a:pPr algn="l">
              <a:lnSpc>
                <a:spcPts val="3059"/>
              </a:lnSpc>
            </a:pPr>
            <a:r>
              <a:rPr lang="en-US" sz="218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Roll: 102111001154</a:t>
            </a:r>
          </a:p>
          <a:p>
            <a:pPr algn="ctr">
              <a:lnSpc>
                <a:spcPts val="3059"/>
              </a:lnSpc>
            </a:pPr>
            <a:endParaRPr lang="en-US" sz="2185" b="1" dirty="0">
              <a:solidFill>
                <a:srgbClr val="24096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17634"/>
            <a:ext cx="14152523" cy="7777391"/>
            <a:chOff x="0" y="0"/>
            <a:chExt cx="3727414" cy="2048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7414" cy="2048366"/>
            </a:xfrm>
            <a:custGeom>
              <a:avLst/>
              <a:gdLst/>
              <a:ahLst/>
              <a:cxnLst/>
              <a:rect l="l" t="t" r="r" b="b"/>
              <a:pathLst>
                <a:path w="3727414" h="2048366">
                  <a:moveTo>
                    <a:pt x="0" y="0"/>
                  </a:moveTo>
                  <a:lnTo>
                    <a:pt x="3727414" y="0"/>
                  </a:lnTo>
                  <a:lnTo>
                    <a:pt x="3727414" y="2048366"/>
                  </a:lnTo>
                  <a:lnTo>
                    <a:pt x="0" y="2048366"/>
                  </a:ln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727414" cy="20864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66501" y="6709979"/>
            <a:ext cx="6573048" cy="2241939"/>
            <a:chOff x="0" y="0"/>
            <a:chExt cx="1731173" cy="5904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1173" cy="590470"/>
            </a:xfrm>
            <a:custGeom>
              <a:avLst/>
              <a:gdLst/>
              <a:ahLst/>
              <a:cxnLst/>
              <a:rect l="l" t="t" r="r" b="b"/>
              <a:pathLst>
                <a:path w="1731173" h="590470">
                  <a:moveTo>
                    <a:pt x="0" y="0"/>
                  </a:moveTo>
                  <a:lnTo>
                    <a:pt x="1731173" y="0"/>
                  </a:lnTo>
                  <a:lnTo>
                    <a:pt x="1731173" y="590470"/>
                  </a:lnTo>
                  <a:lnTo>
                    <a:pt x="0" y="590470"/>
                  </a:lnTo>
                  <a:close/>
                </a:path>
              </a:pathLst>
            </a:custGeom>
            <a:gradFill rotWithShape="1">
              <a:gsLst>
                <a:gs pos="0">
                  <a:srgbClr val="F7ACFF">
                    <a:alpha val="0"/>
                  </a:srgbClr>
                </a:gs>
                <a:gs pos="100000">
                  <a:srgbClr val="3C67B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31173" cy="628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7830949"/>
            <a:ext cx="2155070" cy="215507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00540" y="502933"/>
            <a:ext cx="1256320" cy="125632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660248" y="8446187"/>
            <a:ext cx="1122575" cy="924593"/>
          </a:xfrm>
          <a:custGeom>
            <a:avLst/>
            <a:gdLst/>
            <a:ahLst/>
            <a:cxnLst/>
            <a:rect l="l" t="t" r="r" b="b"/>
            <a:pathLst>
              <a:path w="1122575" h="924593">
                <a:moveTo>
                  <a:pt x="0" y="0"/>
                </a:moveTo>
                <a:lnTo>
                  <a:pt x="1122574" y="0"/>
                </a:lnTo>
                <a:lnTo>
                  <a:pt x="1122574" y="924594"/>
                </a:lnTo>
                <a:lnTo>
                  <a:pt x="0" y="92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318" y="2092265"/>
            <a:ext cx="9484885" cy="6391012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656860" y="1921178"/>
            <a:ext cx="4389144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sz="3999" b="1" dirty="0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56860" y="2431451"/>
            <a:ext cx="8004929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5499" dirty="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What is a Digital Twin?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56860" y="3262127"/>
            <a:ext cx="8003388" cy="1530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A Digital Twin is a virtual replica (a digital copy) of a physical object, system, or process.</a:t>
            </a:r>
          </a:p>
          <a:p>
            <a:pPr algn="l">
              <a:lnSpc>
                <a:spcPts val="2442"/>
              </a:lnSpc>
            </a:pPr>
            <a:endParaRPr lang="en-US" sz="2142">
              <a:solidFill>
                <a:srgbClr val="24096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442"/>
              </a:lnSpc>
            </a:pPr>
            <a:r>
              <a:rPr lang="en-US" sz="214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First concept (idea of "Pairing") introduced by Dr. Michael Grieves in 2002.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74314" y="9473025"/>
            <a:ext cx="354591" cy="24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56860" y="4680063"/>
            <a:ext cx="389941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Characteristics: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56860" y="5409208"/>
            <a:ext cx="7517360" cy="2118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093" lvl="1" indent="-187546" algn="l">
              <a:lnSpc>
                <a:spcPts val="2432"/>
              </a:lnSpc>
              <a:buFont typeface="Arial"/>
              <a:buChar char="•"/>
            </a:pPr>
            <a:r>
              <a:rPr lang="en-US" sz="1737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Connection</a:t>
            </a:r>
            <a:r>
              <a:rPr lang="en-US" sz="1737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It is continuously updated with real-time data from its physical counterpart (using sensors and IoT).</a:t>
            </a:r>
          </a:p>
          <a:p>
            <a:pPr marL="375093" lvl="1" indent="-187546" algn="l">
              <a:lnSpc>
                <a:spcPts val="2432"/>
              </a:lnSpc>
              <a:buFont typeface="Arial"/>
              <a:buChar char="•"/>
            </a:pPr>
            <a:r>
              <a:rPr lang="en-US" sz="1737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Bi-Directional Flow</a:t>
            </a:r>
            <a:r>
              <a:rPr lang="en-US" sz="1737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Information flows to the digital model and insights/commands flow back to the physical object.</a:t>
            </a:r>
          </a:p>
          <a:p>
            <a:pPr marL="375093" lvl="1" indent="-187546" algn="l">
              <a:lnSpc>
                <a:spcPts val="2432"/>
              </a:lnSpc>
              <a:buFont typeface="Arial"/>
              <a:buChar char="•"/>
            </a:pPr>
            <a:r>
              <a:rPr lang="en-US" sz="1737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</a:t>
            </a:r>
            <a:r>
              <a:rPr lang="en-US" sz="1737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To monitor, analyze, simulate, and optimize the real-world performance, primarily for predictive maintenance, testing "what-if" scenarios, and making better operational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43057" y="2296"/>
            <a:ext cx="11264060" cy="11375654"/>
            <a:chOff x="0" y="0"/>
            <a:chExt cx="2966666" cy="29960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66666" cy="2996057"/>
            </a:xfrm>
            <a:custGeom>
              <a:avLst/>
              <a:gdLst/>
              <a:ahLst/>
              <a:cxnLst/>
              <a:rect l="l" t="t" r="r" b="b"/>
              <a:pathLst>
                <a:path w="2966666" h="2996057">
                  <a:moveTo>
                    <a:pt x="0" y="0"/>
                  </a:moveTo>
                  <a:lnTo>
                    <a:pt x="2966666" y="0"/>
                  </a:lnTo>
                  <a:lnTo>
                    <a:pt x="2966666" y="2996057"/>
                  </a:lnTo>
                  <a:lnTo>
                    <a:pt x="0" y="2996057"/>
                  </a:lnTo>
                  <a:close/>
                </a:path>
              </a:pathLst>
            </a:custGeom>
            <a:gradFill rotWithShape="1">
              <a:gsLst>
                <a:gs pos="0">
                  <a:srgbClr val="F7ACFF">
                    <a:alpha val="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3C67BF">
                    <a:alpha val="23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66666" cy="30341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821" y="78093"/>
            <a:ext cx="3082379" cy="30080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244" y="5468811"/>
            <a:ext cx="4721330" cy="472133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11640181" y="2766060"/>
            <a:ext cx="0" cy="6492240"/>
          </a:xfrm>
          <a:prstGeom prst="line">
            <a:avLst/>
          </a:prstGeom>
          <a:ln w="3810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oval" w="lg" len="lg"/>
          </a:ln>
        </p:spPr>
      </p:sp>
      <p:sp>
        <p:nvSpPr>
          <p:cNvPr id="14" name="AutoShape 14"/>
          <p:cNvSpPr/>
          <p:nvPr/>
        </p:nvSpPr>
        <p:spPr>
          <a:xfrm flipH="1" flipV="1">
            <a:off x="11630025" y="2835383"/>
            <a:ext cx="3166983" cy="742466"/>
          </a:xfrm>
          <a:prstGeom prst="line">
            <a:avLst/>
          </a:prstGeom>
          <a:ln w="3810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11640181" y="7227414"/>
            <a:ext cx="3029281" cy="1271344"/>
          </a:xfrm>
          <a:prstGeom prst="line">
            <a:avLst/>
          </a:prstGeom>
          <a:ln w="3810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1922671" y="3519061"/>
            <a:ext cx="5558957" cy="3537421"/>
            <a:chOff x="0" y="0"/>
            <a:chExt cx="1277292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77292" cy="812800"/>
            </a:xfrm>
            <a:custGeom>
              <a:avLst/>
              <a:gdLst/>
              <a:ahLst/>
              <a:cxnLst/>
              <a:rect l="l" t="t" r="r" b="b"/>
              <a:pathLst>
                <a:path w="1277292" h="812800">
                  <a:moveTo>
                    <a:pt x="0" y="0"/>
                  </a:moveTo>
                  <a:lnTo>
                    <a:pt x="1277292" y="0"/>
                  </a:lnTo>
                  <a:lnTo>
                    <a:pt x="127729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74314" y="9473025"/>
            <a:ext cx="354591" cy="24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53054" y="1471017"/>
            <a:ext cx="4709745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Components: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49013" y="2381110"/>
            <a:ext cx="7037490" cy="720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Physical asset(s)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the machine, building, vehicle, or process you want to mirror.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Sensors &amp; data sources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IoT sensors, PLCs, gateways, logs, CAD/PLM/BIM data, operator inputs, historical databases.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Connectivity &amp; ingestion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HTTP/APIs, edge gateways — mechanisms to move data from the real world to the digital world.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platform / storage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time-series DBs, object stores, metadata repositories (cloud or on-prem).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Digital model / representation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the mathematical, physics, or rule-based model that represents structure and </a:t>
            </a:r>
            <a:r>
              <a:rPr lang="en-US" sz="1782" dirty="0" err="1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behaviour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(can be CAD geometry, physics model, statistical model, or hybrid).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Simulation &amp; analytics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simulation engines, physics solvers, ML models, rule engines for prediction, anomaly detection, what-if scenarios.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 / UI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dashboards, 3D viewers (e.g., digital factory floor plans), AR/VR overlays for operators.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 / feedback loop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where outputs from the twin drive alerts, control signals, or operator decisions that affect the physical asset.</a:t>
            </a:r>
          </a:p>
          <a:p>
            <a:pPr marL="384769" lvl="1" indent="-192385" algn="l">
              <a:lnSpc>
                <a:spcPts val="2495"/>
              </a:lnSpc>
              <a:buFont typeface="Arial"/>
              <a:buChar char="•"/>
            </a:pPr>
            <a:r>
              <a:rPr lang="en-US" sz="1782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Governance &amp; integration layer</a:t>
            </a:r>
            <a:r>
              <a:rPr lang="en-US" sz="1782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— mapping models, APIs, security, data quality, and lifecycle management.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59" y="-313682"/>
            <a:ext cx="19795102" cy="11153364"/>
            <a:chOff x="0" y="0"/>
            <a:chExt cx="5213525" cy="29375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13525" cy="2937512"/>
            </a:xfrm>
            <a:custGeom>
              <a:avLst/>
              <a:gdLst/>
              <a:ahLst/>
              <a:cxnLst/>
              <a:rect l="l" t="t" r="r" b="b"/>
              <a:pathLst>
                <a:path w="5213525" h="2937512">
                  <a:moveTo>
                    <a:pt x="0" y="0"/>
                  </a:moveTo>
                  <a:lnTo>
                    <a:pt x="5213525" y="0"/>
                  </a:lnTo>
                  <a:lnTo>
                    <a:pt x="5213525" y="2937512"/>
                  </a:lnTo>
                  <a:lnTo>
                    <a:pt x="0" y="2937512"/>
                  </a:ln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13525" cy="2975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279" y="-313682"/>
            <a:ext cx="3185721" cy="318572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403566" y="1871985"/>
            <a:ext cx="884434" cy="88443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8279" y="0"/>
            <a:ext cx="3079161" cy="307916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400" y="2517153"/>
            <a:ext cx="1460304" cy="872933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463" y="3333762"/>
            <a:ext cx="660518" cy="76832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alphaModFix amt="44999"/>
          </a:blip>
          <a:stretch>
            <a:fillRect/>
          </a:stretch>
        </p:blipFill>
        <p:spPr>
          <a:xfrm>
            <a:off x="12310293" y="3168440"/>
            <a:ext cx="1526852" cy="872308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436" y="4431365"/>
            <a:ext cx="1159870" cy="876514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74314" y="9473025"/>
            <a:ext cx="484986" cy="24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12297" y="1468562"/>
            <a:ext cx="462379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Working Principle: </a:t>
            </a:r>
          </a:p>
        </p:txBody>
      </p:sp>
      <p:sp>
        <p:nvSpPr>
          <p:cNvPr id="24" name="AutoShape 24"/>
          <p:cNvSpPr/>
          <p:nvPr/>
        </p:nvSpPr>
        <p:spPr>
          <a:xfrm>
            <a:off x="5795012" y="2953619"/>
            <a:ext cx="2839477" cy="444170"/>
          </a:xfrm>
          <a:prstGeom prst="line">
            <a:avLst/>
          </a:prstGeom>
          <a:ln w="1905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25" name="AutoShape 25"/>
          <p:cNvSpPr/>
          <p:nvPr/>
        </p:nvSpPr>
        <p:spPr>
          <a:xfrm flipV="1">
            <a:off x="5544649" y="4038060"/>
            <a:ext cx="3089840" cy="831562"/>
          </a:xfrm>
          <a:prstGeom prst="line">
            <a:avLst/>
          </a:prstGeom>
          <a:ln w="1905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26" name="AutoShape 26"/>
          <p:cNvSpPr/>
          <p:nvPr/>
        </p:nvSpPr>
        <p:spPr>
          <a:xfrm>
            <a:off x="9154384" y="3397789"/>
            <a:ext cx="3283147" cy="206806"/>
          </a:xfrm>
          <a:prstGeom prst="line">
            <a:avLst/>
          </a:prstGeom>
          <a:ln w="1905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27" name="AutoShape 27"/>
          <p:cNvSpPr/>
          <p:nvPr/>
        </p:nvSpPr>
        <p:spPr>
          <a:xfrm flipH="1">
            <a:off x="9166953" y="3913511"/>
            <a:ext cx="3906767" cy="124549"/>
          </a:xfrm>
          <a:prstGeom prst="line">
            <a:avLst/>
          </a:prstGeom>
          <a:ln w="19050" cap="flat">
            <a:gradFill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triangle" w="lg" len="med"/>
          </a:ln>
        </p:spPr>
      </p:sp>
      <p:sp>
        <p:nvSpPr>
          <p:cNvPr id="28" name="TextBox 28"/>
          <p:cNvSpPr txBox="1"/>
          <p:nvPr/>
        </p:nvSpPr>
        <p:spPr>
          <a:xfrm>
            <a:off x="5186552" y="3203892"/>
            <a:ext cx="2876606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Receiving data through sensors and connectivity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81971" y="5030566"/>
            <a:ext cx="1881188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User Interaction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8787" y="2433204"/>
            <a:ext cx="3421121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Creating digital Model by the data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91233" y="4688965"/>
            <a:ext cx="1419060" cy="322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Feedback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39580" y="5687156"/>
            <a:ext cx="13562699" cy="3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81" lvl="1" indent="-229491" algn="just">
              <a:lnSpc>
                <a:spcPts val="2976"/>
              </a:lnSpc>
              <a:buFont typeface="Arial"/>
              <a:buChar char="•"/>
            </a:pPr>
            <a:r>
              <a:rPr lang="en-US" sz="212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1:</a:t>
            </a:r>
            <a:r>
              <a:rPr lang="en-US" sz="212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 Installing IoT sensors, connecting PLCs (controllers), or using existing data systems that already measure things.</a:t>
            </a:r>
          </a:p>
          <a:p>
            <a:pPr marL="458981" lvl="1" indent="-229491" algn="just">
              <a:lnSpc>
                <a:spcPts val="2976"/>
              </a:lnSpc>
              <a:buFont typeface="Arial"/>
              <a:buChar char="•"/>
            </a:pPr>
            <a:r>
              <a:rPr lang="en-US" sz="212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2:  </a:t>
            </a:r>
            <a:r>
              <a:rPr lang="en-US" sz="212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Sensors and controllers generate data, need to collect it and send it to the digital twin system.</a:t>
            </a:r>
          </a:p>
          <a:p>
            <a:pPr marL="458981" lvl="1" indent="-229491" algn="just">
              <a:lnSpc>
                <a:spcPts val="2976"/>
              </a:lnSpc>
              <a:buFont typeface="Arial"/>
              <a:buChar char="•"/>
            </a:pPr>
            <a:r>
              <a:rPr lang="en-US" sz="212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3:  </a:t>
            </a:r>
            <a:r>
              <a:rPr lang="en-US" sz="212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Clean, normalize, label and store the data in database.</a:t>
            </a:r>
          </a:p>
          <a:p>
            <a:pPr marL="458981" lvl="1" indent="-229491" algn="just">
              <a:lnSpc>
                <a:spcPts val="2976"/>
              </a:lnSpc>
              <a:buFont typeface="Arial"/>
              <a:buChar char="•"/>
            </a:pPr>
            <a:r>
              <a:rPr lang="en-US" sz="212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4:  </a:t>
            </a:r>
            <a:r>
              <a:rPr lang="en-US" sz="212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Map the data into the model.</a:t>
            </a:r>
          </a:p>
          <a:p>
            <a:pPr marL="458981" lvl="1" indent="-229491" algn="just">
              <a:lnSpc>
                <a:spcPts val="2976"/>
              </a:lnSpc>
              <a:buFont typeface="Arial"/>
              <a:buChar char="•"/>
            </a:pPr>
            <a:r>
              <a:rPr lang="en-US" sz="212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5:  </a:t>
            </a:r>
            <a:r>
              <a:rPr lang="en-US" sz="212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Analyze and simulate things virtually. Test digital experiments safely, send alerts, predict failures.</a:t>
            </a:r>
          </a:p>
          <a:p>
            <a:pPr marL="458981" lvl="1" indent="-229491" algn="just">
              <a:lnSpc>
                <a:spcPts val="2976"/>
              </a:lnSpc>
              <a:buFont typeface="Arial"/>
              <a:buChar char="•"/>
            </a:pPr>
            <a:r>
              <a:rPr lang="en-US" sz="2125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6: </a:t>
            </a:r>
            <a:r>
              <a:rPr lang="en-US" sz="212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A dashboard shows current motor speed, power, and health score to user to see any anomaly.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45027" y="7111670"/>
            <a:ext cx="3185721" cy="3185721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568629" y="-318954"/>
            <a:ext cx="2249937" cy="224993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128905" y="1279178"/>
            <a:ext cx="1256320" cy="125632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24" y="2312923"/>
            <a:ext cx="6349566" cy="622739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74314" y="9473025"/>
            <a:ext cx="354591" cy="24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43958" y="1529513"/>
            <a:ext cx="5566442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of Digital Twins: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75747" y="3536171"/>
            <a:ext cx="9017850" cy="372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226" lvl="1" indent="-285613" algn="l">
              <a:lnSpc>
                <a:spcPts val="3704"/>
              </a:lnSpc>
              <a:buAutoNum type="arabicPeriod"/>
            </a:pPr>
            <a:r>
              <a:rPr lang="en-US" sz="2645" b="1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 or Part Twins: </a:t>
            </a:r>
            <a:r>
              <a:rPr lang="en-US" sz="264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For single part of a unit (e.g., an engine sensor module).</a:t>
            </a:r>
          </a:p>
          <a:p>
            <a:pPr marL="571226" lvl="1" indent="-285613" algn="l">
              <a:lnSpc>
                <a:spcPts val="3704"/>
              </a:lnSpc>
              <a:buAutoNum type="arabicPeriod"/>
            </a:pPr>
            <a:r>
              <a:rPr lang="en-US" sz="2645" b="1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Asset Twins: </a:t>
            </a:r>
            <a:r>
              <a:rPr lang="en-US" sz="264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For whole machine (e.g., a turbine).</a:t>
            </a:r>
          </a:p>
          <a:p>
            <a:pPr marL="571226" lvl="1" indent="-285613" algn="l">
              <a:lnSpc>
                <a:spcPts val="3704"/>
              </a:lnSpc>
              <a:buAutoNum type="arabicPeriod"/>
            </a:pPr>
            <a:r>
              <a:rPr lang="en-US" sz="2645" b="1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or Unit Twins: </a:t>
            </a:r>
            <a:r>
              <a:rPr lang="en-US" sz="264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Connects multiple assets together to model how they interact as part of a larger system.</a:t>
            </a:r>
          </a:p>
          <a:p>
            <a:pPr marL="571226" lvl="1" indent="-285613" algn="l">
              <a:lnSpc>
                <a:spcPts val="3704"/>
              </a:lnSpc>
              <a:buAutoNum type="arabicPeriod"/>
            </a:pPr>
            <a:r>
              <a:rPr lang="en-US" sz="2645" b="1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Twins: </a:t>
            </a:r>
            <a:r>
              <a:rPr lang="en-US" sz="264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A business or manufacturing process (workflow optimization).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220" y="175549"/>
            <a:ext cx="1892038" cy="189203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70982" y="4917540"/>
            <a:ext cx="946037" cy="1032381"/>
          </a:xfrm>
          <a:custGeom>
            <a:avLst/>
            <a:gdLst/>
            <a:ahLst/>
            <a:cxnLst/>
            <a:rect l="l" t="t" r="r" b="b"/>
            <a:pathLst>
              <a:path w="946037" h="1032381">
                <a:moveTo>
                  <a:pt x="0" y="0"/>
                </a:moveTo>
                <a:lnTo>
                  <a:pt x="946036" y="0"/>
                </a:lnTo>
                <a:lnTo>
                  <a:pt x="946036" y="1032382"/>
                </a:lnTo>
                <a:lnTo>
                  <a:pt x="0" y="1032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892629" y="4184818"/>
            <a:ext cx="2502743" cy="2497826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774606" y="2306583"/>
            <a:ext cx="6118022" cy="2071920"/>
            <a:chOff x="0" y="0"/>
            <a:chExt cx="1611331" cy="545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11331" cy="545691"/>
            </a:xfrm>
            <a:custGeom>
              <a:avLst/>
              <a:gdLst/>
              <a:ahLst/>
              <a:cxnLst/>
              <a:rect l="l" t="t" r="r" b="b"/>
              <a:pathLst>
                <a:path w="1611331" h="545691">
                  <a:moveTo>
                    <a:pt x="21512" y="0"/>
                  </a:moveTo>
                  <a:lnTo>
                    <a:pt x="1589819" y="0"/>
                  </a:lnTo>
                  <a:cubicBezTo>
                    <a:pt x="1601700" y="0"/>
                    <a:pt x="1611331" y="9631"/>
                    <a:pt x="1611331" y="21512"/>
                  </a:cubicBezTo>
                  <a:lnTo>
                    <a:pt x="1611331" y="524178"/>
                  </a:lnTo>
                  <a:cubicBezTo>
                    <a:pt x="1611331" y="536059"/>
                    <a:pt x="1601700" y="545691"/>
                    <a:pt x="1589819" y="545691"/>
                  </a:cubicBezTo>
                  <a:lnTo>
                    <a:pt x="21512" y="545691"/>
                  </a:lnTo>
                  <a:cubicBezTo>
                    <a:pt x="9631" y="545691"/>
                    <a:pt x="0" y="536059"/>
                    <a:pt x="0" y="524178"/>
                  </a:cubicBezTo>
                  <a:lnTo>
                    <a:pt x="0" y="21512"/>
                  </a:lnTo>
                  <a:cubicBezTo>
                    <a:pt x="0" y="9631"/>
                    <a:pt x="9631" y="0"/>
                    <a:pt x="215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85000"/>
                  </a:srgbClr>
                </a:gs>
                <a:gs pos="100000">
                  <a:srgbClr val="F7ACFF">
                    <a:alpha val="85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11331" cy="58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997049" y="3243608"/>
            <a:ext cx="1673933" cy="1673933"/>
          </a:xfrm>
          <a:custGeom>
            <a:avLst/>
            <a:gdLst/>
            <a:ahLst/>
            <a:cxnLst/>
            <a:rect l="l" t="t" r="r" b="b"/>
            <a:pathLst>
              <a:path w="1673933" h="1673933">
                <a:moveTo>
                  <a:pt x="0" y="0"/>
                </a:moveTo>
                <a:lnTo>
                  <a:pt x="1673933" y="0"/>
                </a:lnTo>
                <a:lnTo>
                  <a:pt x="1673933" y="1673932"/>
                </a:lnTo>
                <a:lnTo>
                  <a:pt x="0" y="1673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656291" y="2216642"/>
            <a:ext cx="6118022" cy="2071920"/>
            <a:chOff x="0" y="0"/>
            <a:chExt cx="1611331" cy="54569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11331" cy="545691"/>
            </a:xfrm>
            <a:custGeom>
              <a:avLst/>
              <a:gdLst/>
              <a:ahLst/>
              <a:cxnLst/>
              <a:rect l="l" t="t" r="r" b="b"/>
              <a:pathLst>
                <a:path w="1611331" h="545691">
                  <a:moveTo>
                    <a:pt x="21512" y="0"/>
                  </a:moveTo>
                  <a:lnTo>
                    <a:pt x="1589819" y="0"/>
                  </a:lnTo>
                  <a:cubicBezTo>
                    <a:pt x="1601700" y="0"/>
                    <a:pt x="1611331" y="9631"/>
                    <a:pt x="1611331" y="21512"/>
                  </a:cubicBezTo>
                  <a:lnTo>
                    <a:pt x="1611331" y="524178"/>
                  </a:lnTo>
                  <a:cubicBezTo>
                    <a:pt x="1611331" y="536059"/>
                    <a:pt x="1601700" y="545691"/>
                    <a:pt x="1589819" y="545691"/>
                  </a:cubicBezTo>
                  <a:lnTo>
                    <a:pt x="21512" y="545691"/>
                  </a:lnTo>
                  <a:cubicBezTo>
                    <a:pt x="9631" y="545691"/>
                    <a:pt x="0" y="536059"/>
                    <a:pt x="0" y="524178"/>
                  </a:cubicBezTo>
                  <a:lnTo>
                    <a:pt x="0" y="21512"/>
                  </a:lnTo>
                  <a:cubicBezTo>
                    <a:pt x="0" y="9631"/>
                    <a:pt x="9631" y="0"/>
                    <a:pt x="215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85000"/>
                  </a:srgbClr>
                </a:gs>
                <a:gs pos="100000">
                  <a:srgbClr val="F7ACFF">
                    <a:alpha val="8500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11331" cy="58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558405" y="3243608"/>
            <a:ext cx="1673933" cy="1673933"/>
          </a:xfrm>
          <a:custGeom>
            <a:avLst/>
            <a:gdLst/>
            <a:ahLst/>
            <a:cxnLst/>
            <a:rect l="l" t="t" r="r" b="b"/>
            <a:pathLst>
              <a:path w="1673933" h="1673933">
                <a:moveTo>
                  <a:pt x="0" y="0"/>
                </a:moveTo>
                <a:lnTo>
                  <a:pt x="1673933" y="0"/>
                </a:lnTo>
                <a:lnTo>
                  <a:pt x="1673933" y="1673932"/>
                </a:lnTo>
                <a:lnTo>
                  <a:pt x="0" y="16739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5993" y="6860640"/>
            <a:ext cx="6118022" cy="2071920"/>
            <a:chOff x="0" y="0"/>
            <a:chExt cx="1611331" cy="5456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11331" cy="545691"/>
            </a:xfrm>
            <a:custGeom>
              <a:avLst/>
              <a:gdLst/>
              <a:ahLst/>
              <a:cxnLst/>
              <a:rect l="l" t="t" r="r" b="b"/>
              <a:pathLst>
                <a:path w="1611331" h="545691">
                  <a:moveTo>
                    <a:pt x="21512" y="0"/>
                  </a:moveTo>
                  <a:lnTo>
                    <a:pt x="1589819" y="0"/>
                  </a:lnTo>
                  <a:cubicBezTo>
                    <a:pt x="1601700" y="0"/>
                    <a:pt x="1611331" y="9631"/>
                    <a:pt x="1611331" y="21512"/>
                  </a:cubicBezTo>
                  <a:lnTo>
                    <a:pt x="1611331" y="524178"/>
                  </a:lnTo>
                  <a:cubicBezTo>
                    <a:pt x="1611331" y="536059"/>
                    <a:pt x="1601700" y="545691"/>
                    <a:pt x="1589819" y="545691"/>
                  </a:cubicBezTo>
                  <a:lnTo>
                    <a:pt x="21512" y="545691"/>
                  </a:lnTo>
                  <a:cubicBezTo>
                    <a:pt x="9631" y="545691"/>
                    <a:pt x="0" y="536059"/>
                    <a:pt x="0" y="524178"/>
                  </a:cubicBezTo>
                  <a:lnTo>
                    <a:pt x="0" y="21512"/>
                  </a:lnTo>
                  <a:cubicBezTo>
                    <a:pt x="0" y="9631"/>
                    <a:pt x="9631" y="0"/>
                    <a:pt x="215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85000"/>
                  </a:srgbClr>
                </a:gs>
                <a:gs pos="100000">
                  <a:srgbClr val="F7ACFF">
                    <a:alpha val="85000"/>
                  </a:srgbClr>
                </a:gs>
              </a:gsLst>
              <a:lin ang="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611331" cy="58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56291" y="6860640"/>
            <a:ext cx="6118022" cy="2071920"/>
            <a:chOff x="0" y="0"/>
            <a:chExt cx="1611331" cy="5456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11331" cy="545691"/>
            </a:xfrm>
            <a:custGeom>
              <a:avLst/>
              <a:gdLst/>
              <a:ahLst/>
              <a:cxnLst/>
              <a:rect l="l" t="t" r="r" b="b"/>
              <a:pathLst>
                <a:path w="1611331" h="545691">
                  <a:moveTo>
                    <a:pt x="21512" y="0"/>
                  </a:moveTo>
                  <a:lnTo>
                    <a:pt x="1589819" y="0"/>
                  </a:lnTo>
                  <a:cubicBezTo>
                    <a:pt x="1601700" y="0"/>
                    <a:pt x="1611331" y="9631"/>
                    <a:pt x="1611331" y="21512"/>
                  </a:cubicBezTo>
                  <a:lnTo>
                    <a:pt x="1611331" y="524178"/>
                  </a:lnTo>
                  <a:cubicBezTo>
                    <a:pt x="1611331" y="536059"/>
                    <a:pt x="1601700" y="545691"/>
                    <a:pt x="1589819" y="545691"/>
                  </a:cubicBezTo>
                  <a:lnTo>
                    <a:pt x="21512" y="545691"/>
                  </a:lnTo>
                  <a:cubicBezTo>
                    <a:pt x="9631" y="545691"/>
                    <a:pt x="0" y="536059"/>
                    <a:pt x="0" y="524178"/>
                  </a:cubicBezTo>
                  <a:lnTo>
                    <a:pt x="0" y="21512"/>
                  </a:lnTo>
                  <a:cubicBezTo>
                    <a:pt x="0" y="9631"/>
                    <a:pt x="9631" y="0"/>
                    <a:pt x="2151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85000"/>
                  </a:srgbClr>
                </a:gs>
                <a:gs pos="100000">
                  <a:srgbClr val="F7ACFF">
                    <a:alpha val="85000"/>
                  </a:srgbClr>
                </a:gs>
              </a:gsLst>
              <a:lin ang="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11331" cy="583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6997049" y="5845677"/>
            <a:ext cx="1673933" cy="1673933"/>
          </a:xfrm>
          <a:custGeom>
            <a:avLst/>
            <a:gdLst/>
            <a:ahLst/>
            <a:cxnLst/>
            <a:rect l="l" t="t" r="r" b="b"/>
            <a:pathLst>
              <a:path w="1673933" h="1673933">
                <a:moveTo>
                  <a:pt x="0" y="0"/>
                </a:moveTo>
                <a:lnTo>
                  <a:pt x="1673933" y="0"/>
                </a:lnTo>
                <a:lnTo>
                  <a:pt x="1673933" y="1673933"/>
                </a:lnTo>
                <a:lnTo>
                  <a:pt x="0" y="1673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558405" y="5845677"/>
            <a:ext cx="1673933" cy="1673933"/>
          </a:xfrm>
          <a:custGeom>
            <a:avLst/>
            <a:gdLst/>
            <a:ahLst/>
            <a:cxnLst/>
            <a:rect l="l" t="t" r="r" b="b"/>
            <a:pathLst>
              <a:path w="1673933" h="1673933">
                <a:moveTo>
                  <a:pt x="0" y="0"/>
                </a:moveTo>
                <a:lnTo>
                  <a:pt x="1673933" y="0"/>
                </a:lnTo>
                <a:lnTo>
                  <a:pt x="1673933" y="1673933"/>
                </a:lnTo>
                <a:lnTo>
                  <a:pt x="0" y="1673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74314" y="9473025"/>
            <a:ext cx="354591" cy="24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43000" y="1121568"/>
            <a:ext cx="865670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 in Digital Twin: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91400" y="3682245"/>
            <a:ext cx="907002" cy="7075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23"/>
              </a:lnSpc>
            </a:pPr>
            <a:r>
              <a:rPr lang="en-US" sz="4230" b="1" dirty="0">
                <a:solidFill>
                  <a:srgbClr val="0D0E0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68695" y="3698503"/>
            <a:ext cx="1253352" cy="68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195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3D structure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83444" y="6425704"/>
            <a:ext cx="1101142" cy="51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9"/>
              </a:lnSpc>
            </a:pPr>
            <a:r>
              <a:rPr lang="en-US" sz="298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738046" y="6419730"/>
            <a:ext cx="1314652" cy="478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&amp; ML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10133" y="2661823"/>
            <a:ext cx="5567451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IoT sensors are attached to the physical object (like a jet engine in the image) and constantly collect operational data (temperature, pressure, vibration, speed, etc.).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15993" y="7481510"/>
            <a:ext cx="5850176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massive amount of data continuously gathered by the IoT sensors is stored and processed in the virtual cloud.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24569" y="7549255"/>
            <a:ext cx="498146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AI, often coupled with Machine Learning (ML), acts as the advanced analytical tool.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37303" y="2671348"/>
            <a:ext cx="5755999" cy="92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spcBef>
                <a:spcPct val="0"/>
              </a:spcBef>
            </a:pPr>
            <a:r>
              <a:rPr lang="en-US" sz="178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CAD(Computer-Aided Design),PLM(Product Lifecycle Management),BIM(Building Information Modeling) for 3D model.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79548" y="4037420"/>
            <a:ext cx="6664580" cy="624958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64" y="0"/>
            <a:ext cx="5214383" cy="521438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747172" y="3469231"/>
            <a:ext cx="1343260" cy="134326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316715" y="1224047"/>
            <a:ext cx="5742639" cy="7648353"/>
          </a:xfrm>
          <a:custGeom>
            <a:avLst/>
            <a:gdLst/>
            <a:ahLst/>
            <a:cxnLst/>
            <a:rect l="l" t="t" r="r" b="b"/>
            <a:pathLst>
              <a:path w="5742639" h="7648353">
                <a:moveTo>
                  <a:pt x="0" y="0"/>
                </a:moveTo>
                <a:lnTo>
                  <a:pt x="5742639" y="0"/>
                </a:lnTo>
                <a:lnTo>
                  <a:pt x="5742639" y="7648354"/>
                </a:lnTo>
                <a:lnTo>
                  <a:pt x="0" y="7648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2546808" y="1923434"/>
            <a:ext cx="3324339" cy="6249579"/>
            <a:chOff x="0" y="0"/>
            <a:chExt cx="1018337" cy="19144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8337" cy="1914419"/>
            </a:xfrm>
            <a:custGeom>
              <a:avLst/>
              <a:gdLst/>
              <a:ahLst/>
              <a:cxnLst/>
              <a:rect l="l" t="t" r="r" b="b"/>
              <a:pathLst>
                <a:path w="1018337" h="1914419">
                  <a:moveTo>
                    <a:pt x="0" y="0"/>
                  </a:moveTo>
                  <a:lnTo>
                    <a:pt x="1018337" y="0"/>
                  </a:lnTo>
                  <a:lnTo>
                    <a:pt x="1018337" y="1914419"/>
                  </a:lnTo>
                  <a:lnTo>
                    <a:pt x="0" y="1914419"/>
                  </a:lnTo>
                  <a:close/>
                </a:path>
              </a:pathLst>
            </a:custGeom>
            <a:blipFill>
              <a:blip r:embed="rId3"/>
              <a:stretch>
                <a:fillRect l="-43997" r="-4399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1623420" y="1477600"/>
            <a:ext cx="1343260" cy="134326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40087" y="3084923"/>
            <a:ext cx="10454963" cy="5976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665" lvl="1" indent="-264832" algn="l">
              <a:lnSpc>
                <a:spcPts val="3434"/>
              </a:lnSpc>
              <a:buFont typeface="Arial"/>
              <a:buChar char="•"/>
            </a:pPr>
            <a:r>
              <a:rPr lang="en-US" sz="2453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Accelerated Testing</a:t>
            </a:r>
            <a:r>
              <a:rPr lang="en-US" sz="2453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Enables faster debugging and testing in a virtual environment, reducing the need for costly physical prototypes.</a:t>
            </a:r>
          </a:p>
          <a:p>
            <a:pPr marL="529665" lvl="1" indent="-264832" algn="l">
              <a:lnSpc>
                <a:spcPts val="3434"/>
              </a:lnSpc>
              <a:buFont typeface="Arial"/>
              <a:buChar char="•"/>
            </a:pPr>
            <a:r>
              <a:rPr lang="en-US" sz="2453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Savings</a:t>
            </a:r>
            <a:r>
              <a:rPr lang="en-US" sz="2453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Allows for Predictive Maintenance, lowering unscheduled downtime and overall O&amp;M (Operations &amp; Maintenance) costs.</a:t>
            </a:r>
          </a:p>
          <a:p>
            <a:pPr marL="529665" lvl="1" indent="-264832" algn="l">
              <a:lnSpc>
                <a:spcPts val="3434"/>
              </a:lnSpc>
              <a:buFont typeface="Arial"/>
              <a:buChar char="•"/>
            </a:pPr>
            <a:r>
              <a:rPr lang="en-US" sz="2453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Optimized Design</a:t>
            </a:r>
            <a:r>
              <a:rPr lang="en-US" sz="2453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Facilitates better design decisions by running extensive "digital experiments" and simulations.</a:t>
            </a:r>
          </a:p>
          <a:p>
            <a:pPr marL="529665" lvl="1" indent="-264832" algn="l">
              <a:lnSpc>
                <a:spcPts val="3434"/>
              </a:lnSpc>
              <a:buFont typeface="Arial"/>
              <a:buChar char="•"/>
            </a:pPr>
            <a:r>
              <a:rPr lang="en-US" sz="2453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Centralized Monitoring</a:t>
            </a:r>
            <a:r>
              <a:rPr lang="en-US" sz="2453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Provides real-time visibility and performance insights across geographically distributed assets or locations.</a:t>
            </a:r>
          </a:p>
          <a:p>
            <a:pPr marL="529665" lvl="1" indent="-264832" algn="l">
              <a:lnSpc>
                <a:spcPts val="3434"/>
              </a:lnSpc>
              <a:buFont typeface="Arial"/>
              <a:buChar char="•"/>
            </a:pPr>
            <a:r>
              <a:rPr lang="en-US" sz="2453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Mitigation</a:t>
            </a:r>
            <a:r>
              <a:rPr lang="en-US" sz="2453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: Allows for the safer testing of extreme scenarios (e.g., system failures, disaster planning) without physical danger.</a:t>
            </a:r>
          </a:p>
          <a:p>
            <a:pPr algn="l">
              <a:lnSpc>
                <a:spcPts val="3434"/>
              </a:lnSpc>
            </a:pPr>
            <a:endParaRPr lang="en-US" sz="2453" dirty="0">
              <a:solidFill>
                <a:srgbClr val="24096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74314" y="9473025"/>
            <a:ext cx="484986" cy="24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9974" y="1847234"/>
            <a:ext cx="6026226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 of Digital Twin: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57021"/>
            <a:ext cx="19526368" cy="2240807"/>
            <a:chOff x="0" y="0"/>
            <a:chExt cx="5142747" cy="5901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42747" cy="590171"/>
            </a:xfrm>
            <a:custGeom>
              <a:avLst/>
              <a:gdLst/>
              <a:ahLst/>
              <a:cxnLst/>
              <a:rect l="l" t="t" r="r" b="b"/>
              <a:pathLst>
                <a:path w="5142747" h="590171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150546" y="1122677"/>
            <a:ext cx="7310908" cy="76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6833" b="1" dirty="0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Challenges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80494" y="1882891"/>
            <a:ext cx="4784362" cy="132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3"/>
              </a:lnSpc>
            </a:pPr>
            <a:r>
              <a:rPr lang="en-US" sz="6179" dirty="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&amp; </a:t>
            </a:r>
            <a:r>
              <a:rPr lang="en-US" sz="6179" dirty="0" err="1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Limitaions</a:t>
            </a:r>
            <a:endParaRPr lang="en-US" sz="6179" dirty="0">
              <a:solidFill>
                <a:srgbClr val="24096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0" y="8061752"/>
            <a:ext cx="19526368" cy="2240807"/>
            <a:chOff x="0" y="0"/>
            <a:chExt cx="5142747" cy="5901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42747" cy="590171"/>
            </a:xfrm>
            <a:custGeom>
              <a:avLst/>
              <a:gdLst/>
              <a:ahLst/>
              <a:cxnLst/>
              <a:rect l="l" t="t" r="r" b="b"/>
              <a:pathLst>
                <a:path w="5142747" h="590171">
                  <a:moveTo>
                    <a:pt x="0" y="0"/>
                  </a:moveTo>
                  <a:lnTo>
                    <a:pt x="5142747" y="0"/>
                  </a:lnTo>
                  <a:lnTo>
                    <a:pt x="5142747" y="590171"/>
                  </a:lnTo>
                  <a:lnTo>
                    <a:pt x="0" y="590171"/>
                  </a:ln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23000"/>
                  </a:srgbClr>
                </a:gs>
                <a:gs pos="50000">
                  <a:srgbClr val="6B4CAF">
                    <a:alpha val="13225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142747" cy="628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74314" y="9473025"/>
            <a:ext cx="354591" cy="24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 dirty="0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2764945" y="3294241"/>
            <a:ext cx="3928667" cy="3151473"/>
            <a:chOff x="0" y="0"/>
            <a:chExt cx="1312069" cy="10525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2069" cy="1052507"/>
            </a:xfrm>
            <a:custGeom>
              <a:avLst/>
              <a:gdLst/>
              <a:ahLst/>
              <a:cxnLst/>
              <a:rect l="l" t="t" r="r" b="b"/>
              <a:pathLst>
                <a:path w="1312069" h="1052507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997223" y="3294241"/>
            <a:ext cx="3928667" cy="3151473"/>
            <a:chOff x="0" y="0"/>
            <a:chExt cx="1312069" cy="10525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12069" cy="1052507"/>
            </a:xfrm>
            <a:custGeom>
              <a:avLst/>
              <a:gdLst/>
              <a:ahLst/>
              <a:cxnLst/>
              <a:rect l="l" t="t" r="r" b="b"/>
              <a:pathLst>
                <a:path w="1312069" h="1052507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229501" y="3294241"/>
            <a:ext cx="3928667" cy="3151473"/>
            <a:chOff x="0" y="0"/>
            <a:chExt cx="1312069" cy="105250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12069" cy="1052507"/>
            </a:xfrm>
            <a:custGeom>
              <a:avLst/>
              <a:gdLst/>
              <a:ahLst/>
              <a:cxnLst/>
              <a:rect l="l" t="t" r="r" b="b"/>
              <a:pathLst>
                <a:path w="1312069" h="1052507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28528" y="3806069"/>
            <a:ext cx="206646" cy="20664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48355" y="3795734"/>
            <a:ext cx="206646" cy="206646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78517" y="3806069"/>
            <a:ext cx="206646" cy="20664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414578" y="1864372"/>
            <a:ext cx="1892038" cy="1892038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96000"/>
                  </a:srgbClr>
                </a:gs>
                <a:gs pos="100000">
                  <a:srgbClr val="F7ACFF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755745" y="6428083"/>
            <a:ext cx="3928667" cy="3151473"/>
            <a:chOff x="0" y="0"/>
            <a:chExt cx="1312069" cy="105250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12069" cy="1052507"/>
            </a:xfrm>
            <a:custGeom>
              <a:avLst/>
              <a:gdLst/>
              <a:ahLst/>
              <a:cxnLst/>
              <a:rect l="l" t="t" r="r" b="b"/>
              <a:pathLst>
                <a:path w="1312069" h="1052507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988023" y="6428083"/>
            <a:ext cx="3928667" cy="3151473"/>
            <a:chOff x="0" y="0"/>
            <a:chExt cx="1312069" cy="105250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12069" cy="1052507"/>
            </a:xfrm>
            <a:custGeom>
              <a:avLst/>
              <a:gdLst/>
              <a:ahLst/>
              <a:cxnLst/>
              <a:rect l="l" t="t" r="r" b="b"/>
              <a:pathLst>
                <a:path w="1312069" h="1052507">
                  <a:moveTo>
                    <a:pt x="0" y="0"/>
                  </a:moveTo>
                  <a:lnTo>
                    <a:pt x="1312069" y="0"/>
                  </a:lnTo>
                  <a:lnTo>
                    <a:pt x="1312069" y="1052507"/>
                  </a:lnTo>
                  <a:lnTo>
                    <a:pt x="0" y="10525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3C67BF">
                      <a:alpha val="100000"/>
                    </a:srgbClr>
                  </a:gs>
                  <a:gs pos="50000">
                    <a:srgbClr val="6B4CAF">
                      <a:alpha val="57500"/>
                    </a:srgbClr>
                  </a:gs>
                  <a:gs pos="100000">
                    <a:srgbClr val="F7ACF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312069" cy="1090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128528" y="6901526"/>
            <a:ext cx="206646" cy="206646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00032" y="6901526"/>
            <a:ext cx="206646" cy="206646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B45B5">
                    <a:alpha val="96000"/>
                  </a:srgbClr>
                </a:gs>
                <a:gs pos="100000">
                  <a:srgbClr val="8875D7">
                    <a:alpha val="96000"/>
                  </a:srgbClr>
                </a:gs>
              </a:gsLst>
              <a:lin ang="0"/>
            </a:gra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3458048" y="3744044"/>
            <a:ext cx="3053367" cy="313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2"/>
              </a:lnSpc>
              <a:spcBef>
                <a:spcPct val="0"/>
              </a:spcBef>
            </a:pPr>
            <a:r>
              <a:rPr lang="en-US" sz="1844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Quality &amp; Integration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773283" y="3733709"/>
            <a:ext cx="2596521" cy="30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2"/>
              </a:lnSpc>
              <a:spcBef>
                <a:spcPct val="0"/>
              </a:spcBef>
            </a:pPr>
            <a:r>
              <a:rPr lang="en-US" sz="1844" b="1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Fidelity vs. Cost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129859" y="3744045"/>
            <a:ext cx="2195741" cy="31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2"/>
              </a:lnSpc>
              <a:spcBef>
                <a:spcPct val="0"/>
              </a:spcBef>
            </a:pPr>
            <a:r>
              <a:rPr lang="en-US" sz="1844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&amp; Privacy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830502" y="6860172"/>
            <a:ext cx="2750821" cy="31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2"/>
              </a:lnSpc>
              <a:spcBef>
                <a:spcPct val="0"/>
              </a:spcBef>
            </a:pPr>
            <a:r>
              <a:rPr lang="en-US" sz="1844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Organizational Change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58049" y="6860173"/>
            <a:ext cx="3402396" cy="311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82"/>
              </a:lnSpc>
              <a:spcBef>
                <a:spcPct val="0"/>
              </a:spcBef>
            </a:pPr>
            <a:r>
              <a:rPr lang="en-US" sz="1844" b="1" dirty="0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Standards &amp; Interoperability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58049" y="4229452"/>
            <a:ext cx="3402396" cy="1658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 dirty="0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Difficult to integrate data consistently due to the variety of sensor types, legacy equipment, and messy data formats.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73283" y="4229452"/>
            <a:ext cx="3402396" cy="1327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Creating high-fidelity, highly accurate physics-based models is extremely expensive and complex.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129859" y="4219927"/>
            <a:ext cx="3402396" cy="1658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It contains sensitive operational data. This requires robust cybersecurity and strict access controls to prevent unauthorized access.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458049" y="7200392"/>
            <a:ext cx="3402396" cy="232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There is a current lack of universal standards and protocols, making it challenging and costly to ensure different vendors' digital twin components can work together (interoperate)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817905" y="7215112"/>
            <a:ext cx="3960612" cy="232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1865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Successful implementation requires significant adaptation in business culture. Employees and processes must be trained to trust and act upon the data-driven decisions recommended by the twin.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9444450"/>
            <a:ext cx="415258" cy="415258"/>
          </a:xfrm>
          <a:custGeom>
            <a:avLst/>
            <a:gdLst/>
            <a:ahLst/>
            <a:cxnLst/>
            <a:rect l="l" t="t" r="r" b="b"/>
            <a:pathLst>
              <a:path w="415258" h="415258">
                <a:moveTo>
                  <a:pt x="0" y="0"/>
                </a:moveTo>
                <a:lnTo>
                  <a:pt x="415258" y="0"/>
                </a:lnTo>
                <a:lnTo>
                  <a:pt x="415258" y="415258"/>
                </a:lnTo>
                <a:lnTo>
                  <a:pt x="0" y="415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87534" y="806014"/>
            <a:ext cx="2414254" cy="241425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10766" y="2948298"/>
            <a:ext cx="10264346" cy="5923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267" lvl="1" indent="-302633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Digital Twins bridge the physical and digital worlds, enabling real-time monitoring, simulation, and optimization.</a:t>
            </a:r>
          </a:p>
          <a:p>
            <a:pPr marL="605267" lvl="1" indent="-302633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By combining IoT, AI/ML, Big Data, and 3D Simulation, they provide deep insights into asset and process performance.</a:t>
            </a:r>
          </a:p>
          <a:p>
            <a:pPr marL="605267" lvl="1" indent="-302633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They help industries achieve predictive maintenance, reduced downtime, and improved efficiency.</a:t>
            </a:r>
          </a:p>
          <a:p>
            <a:pPr marL="605267" lvl="1" indent="-302633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240960"/>
                </a:solidFill>
                <a:latin typeface="Canva Sans"/>
                <a:ea typeface="Canva Sans"/>
                <a:cs typeface="Canva Sans"/>
                <a:sym typeface="Canva Sans"/>
              </a:rPr>
              <a:t>From components to full business processes, Digital Twins are transforming how we design, operate, and innovate.</a:t>
            </a:r>
          </a:p>
          <a:p>
            <a:pPr algn="l">
              <a:lnSpc>
                <a:spcPts val="3924"/>
              </a:lnSpc>
            </a:pPr>
            <a:endParaRPr lang="en-US" sz="2803">
              <a:solidFill>
                <a:srgbClr val="24096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1325" y="4902133"/>
            <a:ext cx="1868941" cy="2896406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1966" y="3716695"/>
            <a:ext cx="4326062" cy="4242825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 rot="1109513">
            <a:off x="17090257" y="4377733"/>
            <a:ext cx="877284" cy="791150"/>
          </a:xfrm>
          <a:custGeom>
            <a:avLst/>
            <a:gdLst/>
            <a:ahLst/>
            <a:cxnLst/>
            <a:rect l="l" t="t" r="r" b="b"/>
            <a:pathLst>
              <a:path w="877284" h="791150">
                <a:moveTo>
                  <a:pt x="0" y="0"/>
                </a:moveTo>
                <a:lnTo>
                  <a:pt x="877284" y="0"/>
                </a:lnTo>
                <a:lnTo>
                  <a:pt x="877284" y="791150"/>
                </a:lnTo>
                <a:lnTo>
                  <a:pt x="0" y="7911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74314" y="9473025"/>
            <a:ext cx="484986" cy="24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09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10766" y="1916564"/>
            <a:ext cx="2927985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409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38748" y="1717612"/>
            <a:ext cx="2999351" cy="29993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38424" y="3731637"/>
            <a:ext cx="10157282" cy="1543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13535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Questions?</a:t>
            </a:r>
          </a:p>
        </p:txBody>
      </p:sp>
      <p:grpSp>
        <p:nvGrpSpPr>
          <p:cNvPr id="6" name="Group 6"/>
          <p:cNvGrpSpPr/>
          <p:nvPr/>
        </p:nvGrpSpPr>
        <p:grpSpPr>
          <a:xfrm rot="-7357214">
            <a:off x="13258034" y="3751164"/>
            <a:ext cx="1931597" cy="193159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74314" y="9473025"/>
            <a:ext cx="354591" cy="24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89840" y="2149955"/>
            <a:ext cx="2999351" cy="29993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58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233203" y="3316034"/>
            <a:ext cx="7055617" cy="154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13535" b="1" dirty="0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89516" y="4760679"/>
            <a:ext cx="4990576" cy="154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28"/>
              </a:lnSpc>
            </a:pPr>
            <a:r>
              <a:rPr lang="en-US" sz="13535" dirty="0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You.</a:t>
            </a:r>
          </a:p>
        </p:txBody>
      </p:sp>
      <p:grpSp>
        <p:nvGrpSpPr>
          <p:cNvPr id="7" name="Group 7"/>
          <p:cNvGrpSpPr/>
          <p:nvPr/>
        </p:nvGrpSpPr>
        <p:grpSpPr>
          <a:xfrm rot="-7357214">
            <a:off x="10690988" y="3451709"/>
            <a:ext cx="1931597" cy="19315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C67BF">
                    <a:alpha val="58000"/>
                  </a:srgbClr>
                </a:gs>
                <a:gs pos="100000">
                  <a:srgbClr val="F7ACFF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412291" y="844114"/>
            <a:ext cx="847009" cy="286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2183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50268" y="9473025"/>
            <a:ext cx="724046" cy="24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 b="1">
                <a:solidFill>
                  <a:srgbClr val="24096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74314" y="9473025"/>
            <a:ext cx="354591" cy="24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22">
                <a:solidFill>
                  <a:srgbClr val="240960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1029</Words>
  <Application>Microsoft Office PowerPoint</Application>
  <PresentationFormat>Custom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Canva Sans Bold</vt:lpstr>
      <vt:lpstr>Canva Sans</vt:lpstr>
      <vt:lpstr>Calibri</vt:lpstr>
      <vt:lpstr>Montserrat Bold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Subhadip Sinha</dc:title>
  <dc:creator>SUBHADIP</dc:creator>
  <cp:lastModifiedBy>Subhadip Sinha</cp:lastModifiedBy>
  <cp:revision>4</cp:revision>
  <dcterms:created xsi:type="dcterms:W3CDTF">2006-08-16T00:00:00Z</dcterms:created>
  <dcterms:modified xsi:type="dcterms:W3CDTF">2025-10-31T01:15:01Z</dcterms:modified>
  <dc:identifier>DAG3DIvifVo</dc:identifier>
</cp:coreProperties>
</file>